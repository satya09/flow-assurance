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56" r:id="rId3"/>
    <p:sldId id="264" r:id="rId4"/>
    <p:sldId id="258" r:id="rId5"/>
    <p:sldId id="260" r:id="rId6"/>
    <p:sldId id="266" r:id="rId7"/>
    <p:sldId id="269" r:id="rId8"/>
    <p:sldId id="270" r:id="rId9"/>
    <p:sldId id="271" r:id="rId10"/>
    <p:sldId id="272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790948-6E65-4FC7-BAA5-50F6D70FD18B}">
          <p14:sldIdLst>
            <p14:sldId id="273"/>
            <p14:sldId id="256"/>
            <p14:sldId id="264"/>
            <p14:sldId id="258"/>
            <p14:sldId id="260"/>
            <p14:sldId id="266"/>
            <p14:sldId id="269"/>
            <p14:sldId id="270"/>
            <p14:sldId id="271"/>
            <p14:sldId id="272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0DD"/>
    <a:srgbClr val="1A0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89453" autoAdjust="0"/>
  </p:normalViewPr>
  <p:slideViewPr>
    <p:cSldViewPr>
      <p:cViewPr varScale="1">
        <p:scale>
          <a:sx n="92" d="100"/>
          <a:sy n="92" d="100"/>
        </p:scale>
        <p:origin x="-1290" y="-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2" y="1812927"/>
            <a:ext cx="34712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1812927"/>
            <a:ext cx="347127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1387058"/>
            <a:ext cx="3297953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3" y="2500312"/>
            <a:ext cx="3297954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4516154" y="994387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674192" y="1601512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val 55"/>
          <p:cNvSpPr>
            <a:spLocks noChangeAspect="1"/>
          </p:cNvSpPr>
          <p:nvPr/>
        </p:nvSpPr>
        <p:spPr>
          <a:xfrm>
            <a:off x="-69625" y="4042576"/>
            <a:ext cx="1743945" cy="1909234"/>
          </a:xfrm>
          <a:custGeom>
            <a:avLst/>
            <a:gdLst/>
            <a:ahLst/>
            <a:cxnLst/>
            <a:rect l="l" t="t" r="r" b="b"/>
            <a:pathLst>
              <a:path w="1743945" h="1909234">
                <a:moveTo>
                  <a:pt x="789328" y="0"/>
                </a:moveTo>
                <a:cubicBezTo>
                  <a:pt x="1316548" y="0"/>
                  <a:pt x="1743945" y="427397"/>
                  <a:pt x="1743945" y="954617"/>
                </a:cubicBezTo>
                <a:cubicBezTo>
                  <a:pt x="1743945" y="1481837"/>
                  <a:pt x="1316548" y="1909234"/>
                  <a:pt x="789328" y="1909234"/>
                </a:cubicBezTo>
                <a:cubicBezTo>
                  <a:pt x="461080" y="1909234"/>
                  <a:pt x="171527" y="1743562"/>
                  <a:pt x="0" y="1491086"/>
                </a:cubicBezTo>
                <a:lnTo>
                  <a:pt x="0" y="418149"/>
                </a:lnTo>
                <a:cubicBezTo>
                  <a:pt x="171527" y="165673"/>
                  <a:pt x="461080" y="0"/>
                  <a:pt x="789328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3" name="Oval 52"/>
          <p:cNvSpPr>
            <a:spLocks noChangeAspect="1"/>
          </p:cNvSpPr>
          <p:nvPr/>
        </p:nvSpPr>
        <p:spPr>
          <a:xfrm>
            <a:off x="520638" y="1095310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878729" y="28293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520637" y="5729135"/>
            <a:ext cx="1909234" cy="1193756"/>
          </a:xfrm>
          <a:custGeom>
            <a:avLst/>
            <a:gdLst/>
            <a:ahLst/>
            <a:cxnLst/>
            <a:rect l="l" t="t" r="r" b="b"/>
            <a:pathLst>
              <a:path w="1909234" h="1193756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037305"/>
                  <a:pt x="1898721" y="1117537"/>
                  <a:pt x="1877819" y="1193756"/>
                </a:cubicBezTo>
                <a:lnTo>
                  <a:pt x="31415" y="1193756"/>
                </a:lnTo>
                <a:cubicBezTo>
                  <a:pt x="10513" y="1117537"/>
                  <a:pt x="0" y="103730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0" name="Oval 129"/>
          <p:cNvSpPr>
            <a:spLocks noChangeAspect="1"/>
          </p:cNvSpPr>
          <p:nvPr/>
        </p:nvSpPr>
        <p:spPr>
          <a:xfrm>
            <a:off x="-46711" y="-61709"/>
            <a:ext cx="1449107" cy="1677064"/>
          </a:xfrm>
          <a:custGeom>
            <a:avLst/>
            <a:gdLst/>
            <a:ahLst/>
            <a:cxnLst/>
            <a:rect l="l" t="t" r="r" b="b"/>
            <a:pathLst>
              <a:path w="1449107" h="1677064">
                <a:moveTo>
                  <a:pt x="0" y="0"/>
                </a:moveTo>
                <a:lnTo>
                  <a:pt x="1112019" y="0"/>
                </a:lnTo>
                <a:cubicBezTo>
                  <a:pt x="1319407" y="171874"/>
                  <a:pt x="1449107" y="432014"/>
                  <a:pt x="1449107" y="722447"/>
                </a:cubicBezTo>
                <a:cubicBezTo>
                  <a:pt x="1449107" y="1249667"/>
                  <a:pt x="1021710" y="1677064"/>
                  <a:pt x="494490" y="1677064"/>
                </a:cubicBezTo>
                <a:cubicBezTo>
                  <a:pt x="313232" y="1677064"/>
                  <a:pt x="143772" y="1626546"/>
                  <a:pt x="0" y="1537872"/>
                </a:cubicBezTo>
                <a:close/>
              </a:path>
            </a:pathLst>
          </a:custGeom>
          <a:solidFill>
            <a:schemeClr val="tx2">
              <a:lumMod val="75000"/>
              <a:alpha val="14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1" name="Oval 130"/>
          <p:cNvSpPr>
            <a:spLocks noChangeAspect="1"/>
          </p:cNvSpPr>
          <p:nvPr/>
        </p:nvSpPr>
        <p:spPr>
          <a:xfrm>
            <a:off x="924113" y="-16162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2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2" name="Oval 131"/>
          <p:cNvSpPr>
            <a:spLocks noChangeAspect="1"/>
          </p:cNvSpPr>
          <p:nvPr/>
        </p:nvSpPr>
        <p:spPr>
          <a:xfrm>
            <a:off x="0" y="66073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3" name="Oval 132"/>
          <p:cNvSpPr>
            <a:spLocks noChangeAspect="1"/>
          </p:cNvSpPr>
          <p:nvPr/>
        </p:nvSpPr>
        <p:spPr>
          <a:xfrm>
            <a:off x="7497531" y="-61709"/>
            <a:ext cx="1694467" cy="1677064"/>
          </a:xfrm>
          <a:custGeom>
            <a:avLst/>
            <a:gdLst/>
            <a:ahLst/>
            <a:cxnLst/>
            <a:rect l="l" t="t" r="r" b="b"/>
            <a:pathLst>
              <a:path w="1694467" h="1677064">
                <a:moveTo>
                  <a:pt x="337088" y="0"/>
                </a:moveTo>
                <a:lnTo>
                  <a:pt x="1573463" y="0"/>
                </a:lnTo>
                <a:cubicBezTo>
                  <a:pt x="1618202" y="37449"/>
                  <a:pt x="1658454" y="79950"/>
                  <a:pt x="1694467" y="126010"/>
                </a:cubicBezTo>
                <a:lnTo>
                  <a:pt x="1694467" y="1318884"/>
                </a:lnTo>
                <a:cubicBezTo>
                  <a:pt x="1522840" y="1538397"/>
                  <a:pt x="1254922" y="1677064"/>
                  <a:pt x="954617" y="1677064"/>
                </a:cubicBezTo>
                <a:cubicBezTo>
                  <a:pt x="427397" y="1677064"/>
                  <a:pt x="0" y="1249667"/>
                  <a:pt x="0" y="722447"/>
                </a:cubicBezTo>
                <a:cubicBezTo>
                  <a:pt x="0" y="432014"/>
                  <a:pt x="129700" y="171874"/>
                  <a:pt x="337088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6117502" y="-61708"/>
            <a:ext cx="1909234" cy="1705448"/>
          </a:xfrm>
          <a:custGeom>
            <a:avLst/>
            <a:gdLst/>
            <a:ahLst/>
            <a:cxnLst/>
            <a:rect l="l" t="t" r="r" b="b"/>
            <a:pathLst>
              <a:path w="1909234" h="1705448">
                <a:moveTo>
                  <a:pt x="371490" y="0"/>
                </a:moveTo>
                <a:lnTo>
                  <a:pt x="1537745" y="0"/>
                </a:lnTo>
                <a:cubicBezTo>
                  <a:pt x="1764760" y="171517"/>
                  <a:pt x="1909234" y="444302"/>
                  <a:pt x="1909234" y="750831"/>
                </a:cubicBezTo>
                <a:cubicBezTo>
                  <a:pt x="1909234" y="1278051"/>
                  <a:pt x="1481837" y="1705448"/>
                  <a:pt x="954617" y="1705448"/>
                </a:cubicBezTo>
                <a:cubicBezTo>
                  <a:pt x="427397" y="1705448"/>
                  <a:pt x="0" y="1278051"/>
                  <a:pt x="0" y="750831"/>
                </a:cubicBezTo>
                <a:cubicBezTo>
                  <a:pt x="0" y="444302"/>
                  <a:pt x="144474" y="171517"/>
                  <a:pt x="37149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5" name="Oval 134"/>
          <p:cNvSpPr>
            <a:spLocks noChangeAspect="1"/>
          </p:cNvSpPr>
          <p:nvPr/>
        </p:nvSpPr>
        <p:spPr>
          <a:xfrm>
            <a:off x="7494454" y="1095309"/>
            <a:ext cx="1697544" cy="1909234"/>
          </a:xfrm>
          <a:custGeom>
            <a:avLst/>
            <a:gdLst/>
            <a:ahLst/>
            <a:cxnLst/>
            <a:rect l="l" t="t" r="r" b="b"/>
            <a:pathLst>
              <a:path w="1697544" h="1909234">
                <a:moveTo>
                  <a:pt x="954617" y="0"/>
                </a:moveTo>
                <a:cubicBezTo>
                  <a:pt x="1256666" y="0"/>
                  <a:pt x="1525952" y="140283"/>
                  <a:pt x="1697544" y="361910"/>
                </a:cubicBezTo>
                <a:lnTo>
                  <a:pt x="1697544" y="1547324"/>
                </a:lnTo>
                <a:cubicBezTo>
                  <a:pt x="1525952" y="1768951"/>
                  <a:pt x="1256666" y="1909234"/>
                  <a:pt x="954617" y="1909234"/>
                </a:cubicBezTo>
                <a:cubicBezTo>
                  <a:pt x="427397" y="1909234"/>
                  <a:pt x="0" y="1481837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6" name="Oval 135"/>
          <p:cNvSpPr>
            <a:spLocks noChangeAspect="1"/>
          </p:cNvSpPr>
          <p:nvPr/>
        </p:nvSpPr>
        <p:spPr>
          <a:xfrm>
            <a:off x="8056674" y="5140346"/>
            <a:ext cx="1137194" cy="1759729"/>
          </a:xfrm>
          <a:custGeom>
            <a:avLst/>
            <a:gdLst/>
            <a:ahLst/>
            <a:cxnLst/>
            <a:rect l="l" t="t" r="r" b="b"/>
            <a:pathLst>
              <a:path w="1137194" h="1759729">
                <a:moveTo>
                  <a:pt x="954617" y="0"/>
                </a:moveTo>
                <a:cubicBezTo>
                  <a:pt x="1017088" y="0"/>
                  <a:pt x="1078157" y="6001"/>
                  <a:pt x="1137194" y="17897"/>
                </a:cubicBezTo>
                <a:lnTo>
                  <a:pt x="1137194" y="1759729"/>
                </a:lnTo>
                <a:lnTo>
                  <a:pt x="443151" y="1759729"/>
                </a:lnTo>
                <a:cubicBezTo>
                  <a:pt x="176544" y="1591075"/>
                  <a:pt x="0" y="1293463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7" name="Oval 136"/>
          <p:cNvSpPr>
            <a:spLocks noChangeAspect="1"/>
          </p:cNvSpPr>
          <p:nvPr/>
        </p:nvSpPr>
        <p:spPr>
          <a:xfrm>
            <a:off x="6661711" y="4362912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8" name="Oval 137"/>
          <p:cNvSpPr>
            <a:spLocks noChangeAspect="1"/>
          </p:cNvSpPr>
          <p:nvPr/>
        </p:nvSpPr>
        <p:spPr>
          <a:xfrm>
            <a:off x="-69625" y="4948766"/>
            <a:ext cx="1353860" cy="1909234"/>
          </a:xfrm>
          <a:custGeom>
            <a:avLst/>
            <a:gdLst/>
            <a:ahLst/>
            <a:cxnLst/>
            <a:rect l="l" t="t" r="r" b="b"/>
            <a:pathLst>
              <a:path w="1353860" h="1909234">
                <a:moveTo>
                  <a:pt x="399243" y="0"/>
                </a:moveTo>
                <a:cubicBezTo>
                  <a:pt x="926463" y="0"/>
                  <a:pt x="1353860" y="427397"/>
                  <a:pt x="1353860" y="954617"/>
                </a:cubicBezTo>
                <a:cubicBezTo>
                  <a:pt x="1353860" y="1481837"/>
                  <a:pt x="926463" y="1909234"/>
                  <a:pt x="399243" y="1909234"/>
                </a:cubicBezTo>
                <a:cubicBezTo>
                  <a:pt x="256544" y="1909234"/>
                  <a:pt x="121158" y="1877924"/>
                  <a:pt x="0" y="1820890"/>
                </a:cubicBezTo>
                <a:lnTo>
                  <a:pt x="0" y="88345"/>
                </a:lnTo>
                <a:cubicBezTo>
                  <a:pt x="121158" y="31311"/>
                  <a:pt x="256544" y="0"/>
                  <a:pt x="399243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9" name="Oval 138"/>
          <p:cNvSpPr>
            <a:spLocks noChangeAspect="1"/>
          </p:cNvSpPr>
          <p:nvPr/>
        </p:nvSpPr>
        <p:spPr>
          <a:xfrm>
            <a:off x="708471" y="479033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0" name="Oval 139"/>
          <p:cNvSpPr>
            <a:spLocks noChangeAspect="1"/>
          </p:cNvSpPr>
          <p:nvPr/>
        </p:nvSpPr>
        <p:spPr>
          <a:xfrm>
            <a:off x="6117503" y="78398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6459053" y="514034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18" name="Oval 117"/>
          <p:cNvSpPr>
            <a:spLocks noChangeAspect="1"/>
          </p:cNvSpPr>
          <p:nvPr/>
        </p:nvSpPr>
        <p:spPr>
          <a:xfrm>
            <a:off x="8398204" y="597861"/>
            <a:ext cx="793794" cy="1252918"/>
          </a:xfrm>
          <a:custGeom>
            <a:avLst/>
            <a:gdLst/>
            <a:ahLst/>
            <a:cxnLst/>
            <a:rect l="l" t="t" r="r" b="b"/>
            <a:pathLst>
              <a:path w="793794" h="1252918">
                <a:moveTo>
                  <a:pt x="626459" y="0"/>
                </a:moveTo>
                <a:cubicBezTo>
                  <a:pt x="684682" y="0"/>
                  <a:pt x="741049" y="7943"/>
                  <a:pt x="793794" y="25480"/>
                </a:cubicBezTo>
                <a:lnTo>
                  <a:pt x="793794" y="1227438"/>
                </a:lnTo>
                <a:cubicBezTo>
                  <a:pt x="741049" y="1244975"/>
                  <a:pt x="684682" y="1252918"/>
                  <a:pt x="626459" y="1252918"/>
                </a:cubicBezTo>
                <a:cubicBezTo>
                  <a:pt x="280475" y="1252918"/>
                  <a:pt x="0" y="972443"/>
                  <a:pt x="0" y="626459"/>
                </a:cubicBezTo>
                <a:cubicBezTo>
                  <a:pt x="0" y="280475"/>
                  <a:pt x="280475" y="0"/>
                  <a:pt x="626459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>
            <a:spLocks noChangeAspect="1"/>
          </p:cNvSpPr>
          <p:nvPr/>
        </p:nvSpPr>
        <p:spPr>
          <a:xfrm>
            <a:off x="6350100" y="206512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>
            <a:spLocks noChangeAspect="1"/>
          </p:cNvSpPr>
          <p:nvPr/>
        </p:nvSpPr>
        <p:spPr>
          <a:xfrm>
            <a:off x="6872127" y="1450645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>
            <a:spLocks noChangeAspect="1"/>
          </p:cNvSpPr>
          <p:nvPr/>
        </p:nvSpPr>
        <p:spPr>
          <a:xfrm>
            <a:off x="7219068" y="2049927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>
            <a:spLocks noChangeAspect="1"/>
          </p:cNvSpPr>
          <p:nvPr/>
        </p:nvSpPr>
        <p:spPr>
          <a:xfrm>
            <a:off x="7749416" y="2661634"/>
            <a:ext cx="721308" cy="721308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>
            <a:spLocks noChangeAspect="1"/>
          </p:cNvSpPr>
          <p:nvPr/>
        </p:nvSpPr>
        <p:spPr>
          <a:xfrm>
            <a:off x="685054" y="-100976"/>
            <a:ext cx="1193676" cy="697815"/>
          </a:xfrm>
          <a:custGeom>
            <a:avLst/>
            <a:gdLst/>
            <a:ahLst/>
            <a:cxnLst/>
            <a:rect l="l" t="t" r="r" b="b"/>
            <a:pathLst>
              <a:path w="1193676" h="697815">
                <a:moveTo>
                  <a:pt x="10179" y="0"/>
                </a:moveTo>
                <a:lnTo>
                  <a:pt x="1183497" y="0"/>
                </a:lnTo>
                <a:cubicBezTo>
                  <a:pt x="1190746" y="32633"/>
                  <a:pt x="1193676" y="66463"/>
                  <a:pt x="1193676" y="100977"/>
                </a:cubicBezTo>
                <a:cubicBezTo>
                  <a:pt x="1193676" y="430602"/>
                  <a:pt x="926463" y="697815"/>
                  <a:pt x="596838" y="697815"/>
                </a:cubicBezTo>
                <a:cubicBezTo>
                  <a:pt x="267213" y="697815"/>
                  <a:pt x="0" y="430602"/>
                  <a:pt x="0" y="100977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>
            <a:spLocks noChangeAspect="1"/>
          </p:cNvSpPr>
          <p:nvPr/>
        </p:nvSpPr>
        <p:spPr>
          <a:xfrm>
            <a:off x="1502638" y="-100976"/>
            <a:ext cx="1029028" cy="459889"/>
          </a:xfrm>
          <a:custGeom>
            <a:avLst/>
            <a:gdLst/>
            <a:ahLst/>
            <a:cxnLst/>
            <a:rect l="l" t="t" r="r" b="b"/>
            <a:pathLst>
              <a:path w="1029028" h="459889">
                <a:moveTo>
                  <a:pt x="0" y="0"/>
                </a:moveTo>
                <a:lnTo>
                  <a:pt x="1029028" y="0"/>
                </a:lnTo>
                <a:cubicBezTo>
                  <a:pt x="1001386" y="259074"/>
                  <a:pt x="781401" y="459889"/>
                  <a:pt x="514514" y="459889"/>
                </a:cubicBezTo>
                <a:cubicBezTo>
                  <a:pt x="247627" y="459889"/>
                  <a:pt x="27642" y="259074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>
            <a:spLocks noChangeAspect="1"/>
          </p:cNvSpPr>
          <p:nvPr/>
        </p:nvSpPr>
        <p:spPr>
          <a:xfrm>
            <a:off x="-69624" y="-100976"/>
            <a:ext cx="590263" cy="612289"/>
          </a:xfrm>
          <a:custGeom>
            <a:avLst/>
            <a:gdLst/>
            <a:ahLst/>
            <a:cxnLst/>
            <a:rect l="l" t="t" r="r" b="b"/>
            <a:pathLst>
              <a:path w="590263" h="612289">
                <a:moveTo>
                  <a:pt x="0" y="0"/>
                </a:moveTo>
                <a:lnTo>
                  <a:pt x="581024" y="0"/>
                </a:lnTo>
                <a:cubicBezTo>
                  <a:pt x="587493" y="29611"/>
                  <a:pt x="590263" y="60308"/>
                  <a:pt x="590263" y="91651"/>
                </a:cubicBezTo>
                <a:cubicBezTo>
                  <a:pt x="590263" y="379191"/>
                  <a:pt x="357165" y="612289"/>
                  <a:pt x="69625" y="612289"/>
                </a:cubicBezTo>
                <a:lnTo>
                  <a:pt x="0" y="605270"/>
                </a:ln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>
            <a:spLocks noChangeAspect="1"/>
          </p:cNvSpPr>
          <p:nvPr/>
        </p:nvSpPr>
        <p:spPr>
          <a:xfrm>
            <a:off x="277432" y="4321783"/>
            <a:ext cx="1396887" cy="1396887"/>
          </a:xfrm>
          <a:prstGeom prst="ellipse">
            <a:avLst/>
          </a:pr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ChangeAspect="1"/>
          </p:cNvSpPr>
          <p:nvPr/>
        </p:nvSpPr>
        <p:spPr>
          <a:xfrm>
            <a:off x="5792131" y="6489965"/>
            <a:ext cx="1115939" cy="443769"/>
          </a:xfrm>
          <a:custGeom>
            <a:avLst/>
            <a:gdLst/>
            <a:ahLst/>
            <a:cxnLst/>
            <a:rect l="l" t="t" r="r" b="b"/>
            <a:pathLst>
              <a:path w="1115939" h="443769">
                <a:moveTo>
                  <a:pt x="557969" y="0"/>
                </a:moveTo>
                <a:cubicBezTo>
                  <a:pt x="830120" y="0"/>
                  <a:pt x="1058049" y="189335"/>
                  <a:pt x="1115939" y="443769"/>
                </a:cubicBezTo>
                <a:lnTo>
                  <a:pt x="0" y="443769"/>
                </a:lnTo>
                <a:cubicBezTo>
                  <a:pt x="57889" y="189335"/>
                  <a:pt x="285818" y="0"/>
                  <a:pt x="55796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>
            <a:spLocks noChangeAspect="1"/>
          </p:cNvSpPr>
          <p:nvPr/>
        </p:nvSpPr>
        <p:spPr>
          <a:xfrm>
            <a:off x="6127999" y="6408840"/>
            <a:ext cx="1237019" cy="524894"/>
          </a:xfrm>
          <a:custGeom>
            <a:avLst/>
            <a:gdLst/>
            <a:ahLst/>
            <a:cxnLst/>
            <a:rect l="l" t="t" r="r" b="b"/>
            <a:pathLst>
              <a:path w="1237019" h="524894">
                <a:moveTo>
                  <a:pt x="618509" y="0"/>
                </a:moveTo>
                <a:cubicBezTo>
                  <a:pt x="930325" y="0"/>
                  <a:pt x="1189147" y="226891"/>
                  <a:pt x="1237019" y="524894"/>
                </a:cubicBezTo>
                <a:lnTo>
                  <a:pt x="0" y="524894"/>
                </a:lnTo>
                <a:cubicBezTo>
                  <a:pt x="47872" y="226891"/>
                  <a:pt x="306694" y="0"/>
                  <a:pt x="61850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>
            <a:spLocks noChangeAspect="1"/>
          </p:cNvSpPr>
          <p:nvPr/>
        </p:nvSpPr>
        <p:spPr>
          <a:xfrm>
            <a:off x="7577655" y="6408841"/>
            <a:ext cx="1211408" cy="524893"/>
          </a:xfrm>
          <a:custGeom>
            <a:avLst/>
            <a:gdLst/>
            <a:ahLst/>
            <a:cxnLst/>
            <a:rect l="l" t="t" r="r" b="b"/>
            <a:pathLst>
              <a:path w="1211408" h="524893">
                <a:moveTo>
                  <a:pt x="605704" y="0"/>
                </a:moveTo>
                <a:cubicBezTo>
                  <a:pt x="914574" y="0"/>
                  <a:pt x="1170243" y="227782"/>
                  <a:pt x="1211408" y="524893"/>
                </a:cubicBezTo>
                <a:lnTo>
                  <a:pt x="0" y="524893"/>
                </a:lnTo>
                <a:cubicBezTo>
                  <a:pt x="41165" y="227782"/>
                  <a:pt x="296834" y="0"/>
                  <a:pt x="605704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>
            <a:spLocks noChangeAspect="1"/>
          </p:cNvSpPr>
          <p:nvPr/>
        </p:nvSpPr>
        <p:spPr>
          <a:xfrm>
            <a:off x="11073" y="4941986"/>
            <a:ext cx="611230" cy="61123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>
            <a:spLocks noChangeAspect="1"/>
          </p:cNvSpPr>
          <p:nvPr/>
        </p:nvSpPr>
        <p:spPr>
          <a:xfrm>
            <a:off x="-69625" y="6172569"/>
            <a:ext cx="778097" cy="750322"/>
          </a:xfrm>
          <a:custGeom>
            <a:avLst/>
            <a:gdLst/>
            <a:ahLst/>
            <a:cxnLst/>
            <a:rect l="l" t="t" r="r" b="b"/>
            <a:pathLst>
              <a:path w="778097" h="750322">
                <a:moveTo>
                  <a:pt x="261411" y="0"/>
                </a:moveTo>
                <a:cubicBezTo>
                  <a:pt x="546769" y="0"/>
                  <a:pt x="778097" y="231328"/>
                  <a:pt x="778097" y="516686"/>
                </a:cubicBezTo>
                <a:cubicBezTo>
                  <a:pt x="778097" y="601179"/>
                  <a:pt x="757816" y="680934"/>
                  <a:pt x="719843" y="750322"/>
                </a:cubicBezTo>
                <a:lnTo>
                  <a:pt x="0" y="750322"/>
                </a:lnTo>
                <a:lnTo>
                  <a:pt x="0" y="73330"/>
                </a:lnTo>
                <a:cubicBezTo>
                  <a:pt x="75863" y="26083"/>
                  <a:pt x="165591" y="0"/>
                  <a:pt x="26141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>
            <a:spLocks noChangeAspect="1"/>
          </p:cNvSpPr>
          <p:nvPr/>
        </p:nvSpPr>
        <p:spPr>
          <a:xfrm>
            <a:off x="-69625" y="5158575"/>
            <a:ext cx="563524" cy="897560"/>
          </a:xfrm>
          <a:custGeom>
            <a:avLst/>
            <a:gdLst/>
            <a:ahLst/>
            <a:cxnLst/>
            <a:rect l="l" t="t" r="r" b="b"/>
            <a:pathLst>
              <a:path w="563524" h="897560">
                <a:moveTo>
                  <a:pt x="114744" y="0"/>
                </a:moveTo>
                <a:cubicBezTo>
                  <a:pt x="362598" y="0"/>
                  <a:pt x="563524" y="200926"/>
                  <a:pt x="563524" y="448780"/>
                </a:cubicBezTo>
                <a:cubicBezTo>
                  <a:pt x="563524" y="696634"/>
                  <a:pt x="362598" y="897560"/>
                  <a:pt x="114744" y="897560"/>
                </a:cubicBezTo>
                <a:cubicBezTo>
                  <a:pt x="74918" y="897560"/>
                  <a:pt x="36304" y="892373"/>
                  <a:pt x="0" y="880900"/>
                </a:cubicBezTo>
                <a:lnTo>
                  <a:pt x="0" y="16661"/>
                </a:lnTo>
                <a:cubicBezTo>
                  <a:pt x="36304" y="5188"/>
                  <a:pt x="74918" y="0"/>
                  <a:pt x="11474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>
            <a:spLocks noChangeAspect="1"/>
          </p:cNvSpPr>
          <p:nvPr/>
        </p:nvSpPr>
        <p:spPr>
          <a:xfrm>
            <a:off x="-25758" y="482386"/>
            <a:ext cx="598416" cy="905704"/>
          </a:xfrm>
          <a:custGeom>
            <a:avLst/>
            <a:gdLst/>
            <a:ahLst/>
            <a:cxnLst/>
            <a:rect l="l" t="t" r="r" b="b"/>
            <a:pathLst>
              <a:path w="598416" h="905704">
                <a:moveTo>
                  <a:pt x="145564" y="0"/>
                </a:moveTo>
                <a:cubicBezTo>
                  <a:pt x="395667" y="0"/>
                  <a:pt x="598416" y="202749"/>
                  <a:pt x="598416" y="452852"/>
                </a:cubicBezTo>
                <a:cubicBezTo>
                  <a:pt x="598416" y="702955"/>
                  <a:pt x="395667" y="905704"/>
                  <a:pt x="145564" y="905704"/>
                </a:cubicBezTo>
                <a:cubicBezTo>
                  <a:pt x="94398" y="905704"/>
                  <a:pt x="45214" y="897218"/>
                  <a:pt x="0" y="879648"/>
                </a:cubicBezTo>
                <a:lnTo>
                  <a:pt x="0" y="26056"/>
                </a:lnTo>
                <a:cubicBezTo>
                  <a:pt x="45214" y="8486"/>
                  <a:pt x="94398" y="0"/>
                  <a:pt x="14556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>
            <a:spLocks noChangeAspect="1"/>
          </p:cNvSpPr>
          <p:nvPr/>
        </p:nvSpPr>
        <p:spPr>
          <a:xfrm>
            <a:off x="474208" y="836793"/>
            <a:ext cx="910817" cy="91081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>
            <a:spLocks noChangeAspect="1"/>
          </p:cNvSpPr>
          <p:nvPr/>
        </p:nvSpPr>
        <p:spPr>
          <a:xfrm>
            <a:off x="319223" y="1452260"/>
            <a:ext cx="772993" cy="772993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>
            <a:spLocks noChangeAspect="1"/>
          </p:cNvSpPr>
          <p:nvPr/>
        </p:nvSpPr>
        <p:spPr>
          <a:xfrm>
            <a:off x="371257" y="1886983"/>
            <a:ext cx="610366" cy="610366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>
            <a:spLocks noChangeAspect="1"/>
          </p:cNvSpPr>
          <p:nvPr/>
        </p:nvSpPr>
        <p:spPr>
          <a:xfrm>
            <a:off x="154676" y="1919682"/>
            <a:ext cx="521764" cy="52176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>
            <a:spLocks noChangeAspect="1"/>
          </p:cNvSpPr>
          <p:nvPr/>
        </p:nvSpPr>
        <p:spPr>
          <a:xfrm>
            <a:off x="7302517" y="-61709"/>
            <a:ext cx="910818" cy="750833"/>
          </a:xfrm>
          <a:custGeom>
            <a:avLst/>
            <a:gdLst/>
            <a:ahLst/>
            <a:cxnLst/>
            <a:rect l="l" t="t" r="r" b="b"/>
            <a:pathLst>
              <a:path w="910818" h="750833">
                <a:moveTo>
                  <a:pt x="111441" y="0"/>
                </a:moveTo>
                <a:lnTo>
                  <a:pt x="799378" y="0"/>
                </a:lnTo>
                <a:cubicBezTo>
                  <a:pt x="869408" y="78400"/>
                  <a:pt x="910818" y="182076"/>
                  <a:pt x="910818" y="295424"/>
                </a:cubicBezTo>
                <a:cubicBezTo>
                  <a:pt x="910818" y="546939"/>
                  <a:pt x="706924" y="750833"/>
                  <a:pt x="455409" y="750833"/>
                </a:cubicBezTo>
                <a:cubicBezTo>
                  <a:pt x="203894" y="750833"/>
                  <a:pt x="0" y="546939"/>
                  <a:pt x="0" y="295424"/>
                </a:cubicBezTo>
                <a:cubicBezTo>
                  <a:pt x="0" y="182076"/>
                  <a:pt x="41410" y="78400"/>
                  <a:pt x="11144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>
            <a:spLocks noChangeAspect="1"/>
          </p:cNvSpPr>
          <p:nvPr/>
        </p:nvSpPr>
        <p:spPr>
          <a:xfrm>
            <a:off x="8718124" y="-61709"/>
            <a:ext cx="473874" cy="613011"/>
          </a:xfrm>
          <a:custGeom>
            <a:avLst/>
            <a:gdLst/>
            <a:ahLst/>
            <a:cxnLst/>
            <a:rect l="l" t="t" r="r" b="b"/>
            <a:pathLst>
              <a:path w="473874" h="613011">
                <a:moveTo>
                  <a:pt x="29684" y="0"/>
                </a:moveTo>
                <a:lnTo>
                  <a:pt x="473874" y="0"/>
                </a:lnTo>
                <a:lnTo>
                  <a:pt x="473874" y="611150"/>
                </a:lnTo>
                <a:cubicBezTo>
                  <a:pt x="467789" y="612887"/>
                  <a:pt x="461614" y="613011"/>
                  <a:pt x="455409" y="613011"/>
                </a:cubicBezTo>
                <a:cubicBezTo>
                  <a:pt x="203894" y="613011"/>
                  <a:pt x="0" y="409117"/>
                  <a:pt x="0" y="157602"/>
                </a:cubicBezTo>
                <a:cubicBezTo>
                  <a:pt x="0" y="101995"/>
                  <a:pt x="9966" y="48716"/>
                  <a:pt x="2968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>
            <a:spLocks noChangeAspect="1"/>
          </p:cNvSpPr>
          <p:nvPr/>
        </p:nvSpPr>
        <p:spPr>
          <a:xfrm>
            <a:off x="7748238" y="282933"/>
            <a:ext cx="1128521" cy="1128521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>
            <a:spLocks noChangeAspect="1"/>
          </p:cNvSpPr>
          <p:nvPr/>
        </p:nvSpPr>
        <p:spPr>
          <a:xfrm>
            <a:off x="8914718" y="749603"/>
            <a:ext cx="277280" cy="907992"/>
          </a:xfrm>
          <a:custGeom>
            <a:avLst/>
            <a:gdLst/>
            <a:ahLst/>
            <a:cxnLst/>
            <a:rect l="l" t="t" r="r" b="b"/>
            <a:pathLst>
              <a:path w="277280" h="907992">
                <a:moveTo>
                  <a:pt x="277280" y="0"/>
                </a:moveTo>
                <a:lnTo>
                  <a:pt x="277280" y="907992"/>
                </a:lnTo>
                <a:cubicBezTo>
                  <a:pt x="112021" y="824131"/>
                  <a:pt x="0" y="652146"/>
                  <a:pt x="0" y="453996"/>
                </a:cubicBezTo>
                <a:cubicBezTo>
                  <a:pt x="0" y="255847"/>
                  <a:pt x="112021" y="83861"/>
                  <a:pt x="27728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>
            <a:spLocks noChangeAspect="1"/>
          </p:cNvSpPr>
          <p:nvPr/>
        </p:nvSpPr>
        <p:spPr>
          <a:xfrm>
            <a:off x="7590871" y="728498"/>
            <a:ext cx="969734" cy="9697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>
            <a:spLocks noChangeAspect="1"/>
          </p:cNvSpPr>
          <p:nvPr/>
        </p:nvSpPr>
        <p:spPr>
          <a:xfrm>
            <a:off x="7470041" y="1326476"/>
            <a:ext cx="608190" cy="60819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7629941" y="5611427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6972882" y="5242254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7494454" y="4928166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>
            <a:spLocks noChangeAspect="1"/>
          </p:cNvSpPr>
          <p:nvPr/>
        </p:nvSpPr>
        <p:spPr>
          <a:xfrm>
            <a:off x="8229034" y="5666511"/>
            <a:ext cx="605634" cy="6056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>
            <a:spLocks noChangeAspect="1"/>
          </p:cNvSpPr>
          <p:nvPr/>
        </p:nvSpPr>
        <p:spPr>
          <a:xfrm>
            <a:off x="8078231" y="4097842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>
            <a:spLocks noChangeAspect="1"/>
          </p:cNvSpPr>
          <p:nvPr/>
        </p:nvSpPr>
        <p:spPr>
          <a:xfrm>
            <a:off x="8411816" y="5057878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>
            <a:spLocks noChangeAspect="1"/>
          </p:cNvSpPr>
          <p:nvPr/>
        </p:nvSpPr>
        <p:spPr>
          <a:xfrm>
            <a:off x="8688590" y="4790335"/>
            <a:ext cx="503408" cy="553550"/>
          </a:xfrm>
          <a:custGeom>
            <a:avLst/>
            <a:gdLst/>
            <a:ahLst/>
            <a:cxnLst/>
            <a:rect l="l" t="t" r="r" b="b"/>
            <a:pathLst>
              <a:path w="503408" h="553550">
                <a:moveTo>
                  <a:pt x="276775" y="0"/>
                </a:moveTo>
                <a:cubicBezTo>
                  <a:pt x="370698" y="0"/>
                  <a:pt x="453694" y="46784"/>
                  <a:pt x="503408" y="118545"/>
                </a:cubicBezTo>
                <a:lnTo>
                  <a:pt x="503408" y="435005"/>
                </a:lnTo>
                <a:cubicBezTo>
                  <a:pt x="453694" y="506767"/>
                  <a:pt x="370698" y="553550"/>
                  <a:pt x="276775" y="553550"/>
                </a:cubicBezTo>
                <a:cubicBezTo>
                  <a:pt x="123916" y="553550"/>
                  <a:pt x="0" y="429634"/>
                  <a:pt x="0" y="276775"/>
                </a:cubicBezTo>
                <a:cubicBezTo>
                  <a:pt x="0" y="123916"/>
                  <a:pt x="123916" y="0"/>
                  <a:pt x="27677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0D192-3A91-4524-82DA-8A49BEC73032}" type="datetimeFigureOut">
              <a:rPr lang="en-US" smtClean="0"/>
              <a:t>4/24/2014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4F213-BB8C-4502-8693-41612CA67CEB}" type="slidenum">
              <a:rPr lang="en-US" smtClean="0"/>
              <a:t>‹#›</a:t>
            </a:fld>
            <a:endParaRPr lang="en-US"/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1583172" y="5454223"/>
            <a:ext cx="1909234" cy="1468668"/>
          </a:xfrm>
          <a:custGeom>
            <a:avLst/>
            <a:gdLst/>
            <a:ahLst/>
            <a:cxnLst/>
            <a:rect l="l" t="t" r="r" b="b"/>
            <a:pathLst>
              <a:path w="1909234" h="1468668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144075"/>
                  <a:pt x="1854043" y="1320642"/>
                  <a:pt x="1758159" y="1468668"/>
                </a:cubicBezTo>
                <a:lnTo>
                  <a:pt x="151075" y="1468668"/>
                </a:lnTo>
                <a:cubicBezTo>
                  <a:pt x="55192" y="1320642"/>
                  <a:pt x="0" y="114407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8570944" y="3382942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8398204" y="35360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8608408" y="36884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154676" y="2698928"/>
            <a:ext cx="467627" cy="4676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474208" y="3166555"/>
            <a:ext cx="458770" cy="45877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270258" y="3382942"/>
            <a:ext cx="352045" cy="3520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-86601" y="2581479"/>
            <a:ext cx="1360441" cy="1909234"/>
          </a:xfrm>
          <a:custGeom>
            <a:avLst/>
            <a:gdLst/>
            <a:ahLst/>
            <a:cxnLst/>
            <a:rect l="l" t="t" r="r" b="b"/>
            <a:pathLst>
              <a:path w="1360441" h="1909234">
                <a:moveTo>
                  <a:pt x="405824" y="0"/>
                </a:moveTo>
                <a:cubicBezTo>
                  <a:pt x="933044" y="0"/>
                  <a:pt x="1360441" y="427397"/>
                  <a:pt x="1360441" y="954617"/>
                </a:cubicBezTo>
                <a:cubicBezTo>
                  <a:pt x="1360441" y="1481837"/>
                  <a:pt x="933044" y="1909234"/>
                  <a:pt x="405824" y="1909234"/>
                </a:cubicBezTo>
                <a:cubicBezTo>
                  <a:pt x="260527" y="1909234"/>
                  <a:pt x="122812" y="1876773"/>
                  <a:pt x="0" y="1817719"/>
                </a:cubicBezTo>
                <a:lnTo>
                  <a:pt x="0" y="91515"/>
                </a:lnTo>
                <a:cubicBezTo>
                  <a:pt x="122812" y="32461"/>
                  <a:pt x="260527" y="0"/>
                  <a:pt x="405824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64" name="Oval 63"/>
          <p:cNvSpPr>
            <a:spLocks noChangeAspect="1"/>
          </p:cNvSpPr>
          <p:nvPr/>
        </p:nvSpPr>
        <p:spPr>
          <a:xfrm>
            <a:off x="6173123" y="2395416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1"/>
            <a:ext cx="8153399" cy="49443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 smtClean="0"/>
              <a:t>Design </a:t>
            </a:r>
            <a:r>
              <a:rPr lang="en-US" sz="3300" b="1" dirty="0"/>
              <a:t>of a Subsea Production Field</a:t>
            </a:r>
          </a:p>
          <a:p>
            <a:pPr marL="0" indent="0">
              <a:buNone/>
            </a:pPr>
            <a:r>
              <a:rPr lang="en-US" sz="3300" b="1" dirty="0"/>
              <a:t>Spring 2014 Project Report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University </a:t>
            </a:r>
            <a:r>
              <a:rPr lang="en-US" dirty="0"/>
              <a:t>of Houston</a:t>
            </a:r>
          </a:p>
          <a:p>
            <a:pPr marL="0" indent="0">
              <a:buNone/>
            </a:pPr>
            <a:r>
              <a:rPr lang="en-US" dirty="0"/>
              <a:t>SUBS 6310: Flow Assurance</a:t>
            </a:r>
          </a:p>
          <a:p>
            <a:pPr marL="0" indent="0">
              <a:buNone/>
            </a:pPr>
            <a:r>
              <a:rPr lang="en-US" dirty="0" smtClean="0"/>
              <a:t>In</a:t>
            </a:r>
            <a:r>
              <a:rPr lang="en-US" dirty="0" smtClean="0"/>
              <a:t>structor: Dr. Phaneendra Ko</a:t>
            </a:r>
            <a:r>
              <a:rPr lang="en-US" i="1" dirty="0" smtClean="0"/>
              <a:t>ndapi</a:t>
            </a:r>
            <a:endParaRPr lang="en-US" i="1" dirty="0" smtClean="0"/>
          </a:p>
          <a:p>
            <a:pPr marL="0" indent="0">
              <a:buNone/>
            </a:pPr>
            <a:r>
              <a:rPr lang="en-US" dirty="0" smtClean="0"/>
              <a:t>Group: 20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Project Group: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Philip Kuentz</a:t>
            </a:r>
          </a:p>
          <a:p>
            <a:pPr marL="0" indent="0">
              <a:buNone/>
            </a:pPr>
            <a:r>
              <a:rPr lang="en-US" dirty="0" err="1"/>
              <a:t>Satya</a:t>
            </a:r>
            <a:r>
              <a:rPr lang="en-US" dirty="0"/>
              <a:t> Chandu Ganisetty</a:t>
            </a:r>
          </a:p>
          <a:p>
            <a:pPr marL="0" indent="0">
              <a:buNone/>
            </a:pPr>
            <a:r>
              <a:rPr lang="en-US" dirty="0"/>
              <a:t>Akshay Patel</a:t>
            </a:r>
          </a:p>
          <a:p>
            <a:pPr marL="0" indent="0">
              <a:buNone/>
            </a:pPr>
            <a:r>
              <a:rPr lang="en-US" dirty="0"/>
              <a:t>Amin Elhami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014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846" y="152400"/>
            <a:ext cx="7772400" cy="5371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Field Layout- Production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4919620" cy="3276600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616" y="3505200"/>
            <a:ext cx="4902696" cy="3276600"/>
          </a:xfrm>
          <a:prstGeom prst="rect">
            <a:avLst/>
          </a:prstGeom>
          <a:noFill/>
          <a:ln w="15875">
            <a:solidFill>
              <a:schemeClr val="bg1">
                <a:lumMod val="95000"/>
                <a:lumOff val="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50280" y="1676400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Production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57400" y="4876800"/>
            <a:ext cx="19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Water Injection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55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687" y="0"/>
            <a:ext cx="7125113" cy="924475"/>
          </a:xfrm>
        </p:spPr>
        <p:txBody>
          <a:bodyPr/>
          <a:lstStyle/>
          <a:p>
            <a:r>
              <a:rPr lang="en-US" dirty="0" smtClean="0"/>
              <a:t>Flow Assurance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1"/>
            <a:ext cx="7448755" cy="5105400"/>
          </a:xfrm>
        </p:spPr>
        <p:txBody>
          <a:bodyPr>
            <a:normAutofit fontScale="62500" lnSpcReduction="20000"/>
          </a:bodyPr>
          <a:lstStyle/>
          <a:p>
            <a:r>
              <a:rPr lang="en-US" sz="2200" dirty="0" smtClean="0"/>
              <a:t>Size all tubular goods to avoid excessive fluid velocities. </a:t>
            </a:r>
          </a:p>
          <a:p>
            <a:r>
              <a:rPr lang="en-US" sz="2200" dirty="0" smtClean="0"/>
              <a:t>Position manifold closer to low performance well (minimize temperature loss in flow line).</a:t>
            </a:r>
          </a:p>
          <a:p>
            <a:r>
              <a:rPr lang="en-US" sz="2200" dirty="0" smtClean="0"/>
              <a:t>Minimize low temperatures solids formation in the flow lines and risers (utilize well 5 flow to ensure sufficient temperatures in flow-loop 2 riser).</a:t>
            </a:r>
          </a:p>
          <a:p>
            <a:r>
              <a:rPr lang="en-US" sz="2200" dirty="0" smtClean="0"/>
              <a:t>Inject methanol and wax inhibitor down-hole in well 4. Inject at production tree all other wells.</a:t>
            </a:r>
          </a:p>
          <a:p>
            <a:r>
              <a:rPr lang="en-US" sz="2200" dirty="0" smtClean="0"/>
              <a:t>Develop pig network for slug </a:t>
            </a:r>
            <a:endParaRPr lang="en-US" sz="2200" dirty="0" smtClean="0"/>
          </a:p>
          <a:p>
            <a:pPr marL="0" indent="0">
              <a:buNone/>
            </a:pPr>
            <a:r>
              <a:rPr lang="en-US" sz="2200" dirty="0" smtClean="0"/>
              <a:t>       and </a:t>
            </a:r>
            <a:r>
              <a:rPr lang="en-US" sz="2200" dirty="0" smtClean="0"/>
              <a:t>solids remediation. </a:t>
            </a:r>
            <a:endParaRPr lang="en-US" sz="2200" dirty="0" smtClean="0"/>
          </a:p>
          <a:p>
            <a:r>
              <a:rPr lang="en-US" sz="2200" dirty="0"/>
              <a:t>Utilize thermal insulations for 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smtClean="0"/>
              <a:t>  the </a:t>
            </a:r>
            <a:r>
              <a:rPr lang="en-US" sz="2200" dirty="0"/>
              <a:t>pipe lines to prevent </a:t>
            </a:r>
            <a:r>
              <a:rPr lang="en-US" sz="2200" dirty="0" smtClean="0"/>
              <a:t>wax.</a:t>
            </a:r>
            <a:endParaRPr lang="en-US" sz="2200" dirty="0"/>
          </a:p>
          <a:p>
            <a:r>
              <a:rPr lang="en-US" sz="2200" dirty="0"/>
              <a:t>Use pipe coating and choose 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smtClean="0"/>
              <a:t>  correct </a:t>
            </a:r>
            <a:r>
              <a:rPr lang="en-US" sz="2200" dirty="0"/>
              <a:t>alloys according to the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 </a:t>
            </a:r>
            <a:r>
              <a:rPr lang="en-US" sz="2200" dirty="0"/>
              <a:t>cost and project </a:t>
            </a:r>
            <a:r>
              <a:rPr lang="en-US" sz="2200" dirty="0" smtClean="0"/>
              <a:t>lifetime.</a:t>
            </a:r>
            <a:endParaRPr lang="en-US" sz="2200" dirty="0"/>
          </a:p>
          <a:p>
            <a:r>
              <a:rPr lang="en-US" sz="2200" dirty="0" smtClean="0"/>
              <a:t>Utilize </a:t>
            </a:r>
            <a:r>
              <a:rPr lang="en-US" sz="2200" dirty="0"/>
              <a:t>depressurization and 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smtClean="0"/>
              <a:t>  active </a:t>
            </a:r>
            <a:r>
              <a:rPr lang="en-US" sz="2200" dirty="0"/>
              <a:t>heating to remediate 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smtClean="0"/>
              <a:t>  possible </a:t>
            </a:r>
            <a:r>
              <a:rPr lang="en-US" sz="2200" dirty="0"/>
              <a:t>flow assurance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smtClean="0"/>
              <a:t>   problems.</a:t>
            </a:r>
            <a:endParaRPr lang="en-US" sz="2200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667000"/>
            <a:ext cx="4989813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5"/>
          <p:cNvSpPr txBox="1"/>
          <p:nvPr/>
        </p:nvSpPr>
        <p:spPr>
          <a:xfrm>
            <a:off x="4953000" y="6400800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Proposed Pig Network</a:t>
            </a:r>
          </a:p>
        </p:txBody>
      </p:sp>
    </p:spTree>
    <p:extLst>
      <p:ext uri="{BB962C8B-B14F-4D97-AF65-F5344CB8AC3E}">
        <p14:creationId xmlns:p14="http://schemas.microsoft.com/office/powerpoint/2010/main" val="411775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59180"/>
            <a:ext cx="5437429" cy="3097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52400" y="228599"/>
            <a:ext cx="8646024" cy="60960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/>
              <a:t>Pressure Profile- Wells </a:t>
            </a:r>
            <a:r>
              <a:rPr lang="en-US" dirty="0" smtClean="0"/>
              <a:t>P1 </a:t>
            </a:r>
            <a:r>
              <a:rPr lang="en-US" dirty="0" smtClean="0"/>
              <a:t>and </a:t>
            </a:r>
            <a:r>
              <a:rPr lang="en-US" dirty="0" smtClean="0"/>
              <a:t>P2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88158"/>
              </p:ext>
            </p:extLst>
          </p:nvPr>
        </p:nvGraphicFramePr>
        <p:xfrm>
          <a:off x="1661160" y="4343400"/>
          <a:ext cx="7124700" cy="1207007"/>
        </p:xfrm>
        <a:graphic>
          <a:graphicData uri="http://schemas.openxmlformats.org/drawingml/2006/table">
            <a:tbl>
              <a:tblPr/>
              <a:tblGrid>
                <a:gridCol w="1185454"/>
                <a:gridCol w="1185454"/>
                <a:gridCol w="1676400"/>
                <a:gridCol w="1281249"/>
                <a:gridCol w="1796143"/>
              </a:tblGrid>
              <a:tr h="179614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Iteration 1: Comingle manifold at 940 PSI</a:t>
                      </a:r>
                    </a:p>
                  </a:txBody>
                  <a:tcPr marL="11974" marR="11974" marT="1197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0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974" marR="11974" marT="1197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974" marR="11974" marT="119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Choke Bean</a:t>
                      </a:r>
                    </a:p>
                  </a:txBody>
                  <a:tcPr marL="11974" marR="11974" marT="119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 at Manidfold</a:t>
                      </a:r>
                    </a:p>
                  </a:txBody>
                  <a:tcPr marL="11974" marR="11974" marT="119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Flow Rate at Manifold</a:t>
                      </a:r>
                    </a:p>
                  </a:txBody>
                  <a:tcPr marL="11974" marR="11974" marT="119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03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1</a:t>
                      </a:r>
                    </a:p>
                  </a:txBody>
                  <a:tcPr marL="11974" marR="11974" marT="1197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940.6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4500.27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7961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2</a:t>
                      </a:r>
                    </a:p>
                  </a:txBody>
                  <a:tcPr marL="11974" marR="11974" marT="1197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2.5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940.528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3998.7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32809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Riser ID</a:t>
                      </a:r>
                    </a:p>
                  </a:txBody>
                  <a:tcPr marL="11974" marR="11974" marT="1197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COMINGLED TOPSIDE PRESSURE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Topside pressure acceptable</a:t>
                      </a:r>
                    </a:p>
                  </a:txBody>
                  <a:tcPr marL="11974" marR="11974" marT="119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9614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9.5</a:t>
                      </a:r>
                    </a:p>
                  </a:txBody>
                  <a:tcPr marL="11974" marR="11974" marT="1197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208.42</a:t>
                      </a:r>
                    </a:p>
                  </a:txBody>
                  <a:tcPr marL="11974" marR="11974" marT="11974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71034"/>
              </p:ext>
            </p:extLst>
          </p:nvPr>
        </p:nvGraphicFramePr>
        <p:xfrm>
          <a:off x="1661160" y="5638800"/>
          <a:ext cx="7124700" cy="1003503"/>
        </p:xfrm>
        <a:graphic>
          <a:graphicData uri="http://schemas.openxmlformats.org/drawingml/2006/table">
            <a:tbl>
              <a:tblPr/>
              <a:tblGrid>
                <a:gridCol w="1251944"/>
                <a:gridCol w="1866535"/>
                <a:gridCol w="1331613"/>
                <a:gridCol w="1126750"/>
                <a:gridCol w="1547858"/>
              </a:tblGrid>
              <a:tr h="17072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Iteration 1: Comingle manifold at 785 PSI (USE CHOKES)</a:t>
                      </a:r>
                    </a:p>
                  </a:txBody>
                  <a:tcPr marL="11381" marR="11381" marT="1138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16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381" marR="11381" marT="1138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Gas Injection</a:t>
                      </a:r>
                    </a:p>
                  </a:txBody>
                  <a:tcPr marL="11381" marR="11381" marT="113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Choke Bean</a:t>
                      </a:r>
                    </a:p>
                  </a:txBody>
                  <a:tcPr marL="11381" marR="11381" marT="113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 at Manifold</a:t>
                      </a:r>
                    </a:p>
                  </a:txBody>
                  <a:tcPr marL="11381" marR="11381" marT="113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Flow Rate at Manifold</a:t>
                      </a:r>
                    </a:p>
                  </a:txBody>
                  <a:tcPr marL="11381" marR="11381" marT="113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1</a:t>
                      </a:r>
                    </a:p>
                  </a:txBody>
                  <a:tcPr marL="11381" marR="11381" marT="1138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1.15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785.77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1200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70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2</a:t>
                      </a:r>
                    </a:p>
                  </a:txBody>
                  <a:tcPr marL="11381" marR="11381" marT="1138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785.56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1994.3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6161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Riser ID</a:t>
                      </a:r>
                    </a:p>
                  </a:txBody>
                  <a:tcPr marL="11381" marR="11381" marT="1138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COMINGLED TOPSIDE PRESSURE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Topside Pressure Acceptable</a:t>
                      </a:r>
                    </a:p>
                  </a:txBody>
                  <a:tcPr marL="11381" marR="11381" marT="113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0720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9.5</a:t>
                      </a:r>
                    </a:p>
                  </a:txBody>
                  <a:tcPr marL="11381" marR="11381" marT="1138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228.2</a:t>
                      </a:r>
                    </a:p>
                  </a:txBody>
                  <a:tcPr marL="11381" marR="11381" marT="11381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24700" y="1600200"/>
            <a:ext cx="167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Pressure </a:t>
            </a:r>
            <a:r>
              <a:rPr lang="en-US" sz="1400" dirty="0" smtClean="0"/>
              <a:t>Profile, Early Life</a:t>
            </a:r>
            <a:endParaRPr lang="en-US" sz="1400" dirty="0"/>
          </a:p>
        </p:txBody>
      </p:sp>
      <p:sp>
        <p:nvSpPr>
          <p:cNvPr id="7" name="TextBox 1"/>
          <p:cNvSpPr txBox="1"/>
          <p:nvPr/>
        </p:nvSpPr>
        <p:spPr>
          <a:xfrm>
            <a:off x="160020" y="4778452"/>
            <a:ext cx="1327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Pressure Profile Results, Mid and Late </a:t>
            </a:r>
            <a:r>
              <a:rPr lang="en-US" sz="1600" dirty="0" smtClean="0"/>
              <a:t>Life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897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994" y="0"/>
            <a:ext cx="8458200" cy="924475"/>
          </a:xfrm>
        </p:spPr>
        <p:txBody>
          <a:bodyPr/>
          <a:lstStyle/>
          <a:p>
            <a:pPr algn="ctr"/>
            <a:r>
              <a:rPr lang="en-US" dirty="0" smtClean="0"/>
              <a:t>Temperature and EVR, Wells P1 and P2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612" y="3838152"/>
            <a:ext cx="4888191" cy="279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/>
          <p:nvPr/>
        </p:nvSpPr>
        <p:spPr>
          <a:xfrm>
            <a:off x="5410200" y="2512505"/>
            <a:ext cx="3325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Lowest temperature is 76.1°F topsides.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72" y="942552"/>
            <a:ext cx="4886441" cy="279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/>
          <p:cNvSpPr txBox="1"/>
          <p:nvPr/>
        </p:nvSpPr>
        <p:spPr>
          <a:xfrm>
            <a:off x="5396345" y="990600"/>
            <a:ext cx="2209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Temperature Distribution, Wells 1 and 2, Coolest Case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1445692" y="4648200"/>
            <a:ext cx="2438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Erosional Velocity Ratio, Wells 1 and 2, Early Life (Worst Case)</a:t>
            </a:r>
          </a:p>
        </p:txBody>
      </p:sp>
    </p:spTree>
    <p:extLst>
      <p:ext uri="{BB962C8B-B14F-4D97-AF65-F5344CB8AC3E}">
        <p14:creationId xmlns:p14="http://schemas.microsoft.com/office/powerpoint/2010/main" val="173396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:\results\early life\Pressure VS distanc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68682"/>
            <a:ext cx="5105400" cy="321129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28442" y="370925"/>
            <a:ext cx="8134558" cy="924475"/>
          </a:xfrm>
        </p:spPr>
        <p:txBody>
          <a:bodyPr/>
          <a:lstStyle/>
          <a:p>
            <a:pPr algn="ctr"/>
            <a:r>
              <a:rPr lang="en-US" dirty="0"/>
              <a:t>Pressure Profile- Wells </a:t>
            </a:r>
            <a:r>
              <a:rPr lang="en-US" dirty="0" smtClean="0"/>
              <a:t>P3, P4, and P5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1"/>
          <p:cNvSpPr txBox="1"/>
          <p:nvPr/>
        </p:nvSpPr>
        <p:spPr>
          <a:xfrm>
            <a:off x="6995160" y="1893332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Pressure </a:t>
            </a:r>
            <a:r>
              <a:rPr lang="en-US" sz="1400" dirty="0" smtClean="0"/>
              <a:t>Profile, </a:t>
            </a:r>
            <a:r>
              <a:rPr lang="en-US" sz="1400" dirty="0"/>
              <a:t>Early Life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8" name="TextBox 9"/>
          <p:cNvSpPr txBox="1"/>
          <p:nvPr/>
        </p:nvSpPr>
        <p:spPr>
          <a:xfrm>
            <a:off x="152400" y="4800600"/>
            <a:ext cx="152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Pressure Profile Results, Mid and Late Life, Wells 3, 4, and 5 </a:t>
            </a:r>
          </a:p>
          <a:p>
            <a:endParaRPr lang="en-US" sz="1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693002"/>
              </p:ext>
            </p:extLst>
          </p:nvPr>
        </p:nvGraphicFramePr>
        <p:xfrm>
          <a:off x="1638300" y="4038600"/>
          <a:ext cx="7391400" cy="1258371"/>
        </p:xfrm>
        <a:graphic>
          <a:graphicData uri="http://schemas.openxmlformats.org/drawingml/2006/table">
            <a:tbl>
              <a:tblPr/>
              <a:tblGrid>
                <a:gridCol w="1116833"/>
                <a:gridCol w="1665096"/>
                <a:gridCol w="1187903"/>
                <a:gridCol w="1573718"/>
                <a:gridCol w="1847850"/>
              </a:tblGrid>
              <a:tr h="18397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Commingle at 1000 psi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39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787" marR="9787" marT="97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Gas Injection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Choke Bean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 at Manifold (psi)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Flow Rate at Manifold (STB/d)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416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1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1002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8874.73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7416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2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1025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3972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3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1002.89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416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Riser ID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COMINGLED TOPSIDE PRESSURE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Required topside pressure met with 7.5" riser. 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3972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7.5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219.98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8986"/>
              </p:ext>
            </p:extLst>
          </p:nvPr>
        </p:nvGraphicFramePr>
        <p:xfrm>
          <a:off x="1645920" y="5410200"/>
          <a:ext cx="7391400" cy="1323473"/>
        </p:xfrm>
        <a:graphic>
          <a:graphicData uri="http://schemas.openxmlformats.org/drawingml/2006/table">
            <a:tbl>
              <a:tblPr/>
              <a:tblGrid>
                <a:gridCol w="1116832"/>
                <a:gridCol w="1665096"/>
                <a:gridCol w="1187903"/>
                <a:gridCol w="1573719"/>
                <a:gridCol w="1847850"/>
              </a:tblGrid>
              <a:tr h="216155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Commingle at 1000 psi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6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787" marR="9787" marT="97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Gas Injection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Choke Bean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 at Manifold (psi)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Flow Rate at Manifold (STB/d)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49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1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804.31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3406.23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7949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2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1025.72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60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Well 3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Open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814.18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949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Riser ID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COMINGLED TOPSIDE PRESSURE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Required topside pressure met with 7.5" riser. </a:t>
                      </a:r>
                    </a:p>
                  </a:txBody>
                  <a:tcPr marL="9787" marR="9787" marT="97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9609"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7.5</a:t>
                      </a:r>
                    </a:p>
                  </a:txBody>
                  <a:tcPr marL="9787" marR="9787" marT="97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3F3F76"/>
                          </a:solidFill>
                          <a:effectLst/>
                          <a:latin typeface="Calibri"/>
                        </a:rPr>
                        <a:t>205.29</a:t>
                      </a:r>
                    </a:p>
                  </a:txBody>
                  <a:tcPr marL="9787" marR="9787" marT="9787" marB="0" anchor="b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98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125113" cy="924475"/>
          </a:xfrm>
        </p:spPr>
        <p:txBody>
          <a:bodyPr/>
          <a:lstStyle/>
          <a:p>
            <a:pPr algn="ctr"/>
            <a:r>
              <a:rPr lang="en-US" dirty="0"/>
              <a:t>Temperature and EVR, </a:t>
            </a:r>
            <a:r>
              <a:rPr lang="en-US" dirty="0"/>
              <a:t>Wells </a:t>
            </a:r>
            <a:r>
              <a:rPr lang="en-US" dirty="0" smtClean="0"/>
              <a:t>3, 4</a:t>
            </a:r>
            <a:r>
              <a:rPr lang="en-US" dirty="0" smtClean="0"/>
              <a:t>, </a:t>
            </a:r>
            <a:r>
              <a:rPr lang="en-US" dirty="0" smtClean="0"/>
              <a:t>5 Early </a:t>
            </a:r>
            <a:r>
              <a:rPr lang="en-US" dirty="0"/>
              <a:t>Life (Worst Case)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2222"/>
            <a:ext cx="4419600" cy="2690178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4" name="Picture 3" descr="D:\results\early life\temperature\temparature profiles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038600"/>
            <a:ext cx="4419600" cy="2690178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5" name="TextBox 6"/>
          <p:cNvSpPr txBox="1"/>
          <p:nvPr/>
        </p:nvSpPr>
        <p:spPr>
          <a:xfrm>
            <a:off x="1905000" y="4609112"/>
            <a:ext cx="2362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Erosional Velocity Ratio, Wells 3, 4,  5 Early Life (Worst Case)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4953000" y="2286000"/>
            <a:ext cx="2628588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/>
              <a:t>Lowest temperature is ~46°F well 4 branch at manifold.</a:t>
            </a:r>
            <a:endParaRPr lang="en-US" sz="1200" dirty="0"/>
          </a:p>
        </p:txBody>
      </p:sp>
      <p:sp>
        <p:nvSpPr>
          <p:cNvPr id="7" name="TextBox 4"/>
          <p:cNvSpPr txBox="1"/>
          <p:nvPr/>
        </p:nvSpPr>
        <p:spPr>
          <a:xfrm>
            <a:off x="4953000" y="1447800"/>
            <a:ext cx="228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Temperature Distribution, Wells 3, 4, 5 Coolest Case</a:t>
            </a:r>
          </a:p>
        </p:txBody>
      </p:sp>
    </p:spTree>
    <p:extLst>
      <p:ext uri="{BB962C8B-B14F-4D97-AF65-F5344CB8AC3E}">
        <p14:creationId xmlns:p14="http://schemas.microsoft.com/office/powerpoint/2010/main" val="147166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125113" cy="924475"/>
          </a:xfrm>
        </p:spPr>
        <p:txBody>
          <a:bodyPr/>
          <a:lstStyle/>
          <a:p>
            <a:r>
              <a:rPr lang="en-US" dirty="0" smtClean="0"/>
              <a:t>Water Injection Study Results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800"/>
            <a:ext cx="6477000" cy="110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2286000"/>
            <a:ext cx="7005194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531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86275"/>
            <a:ext cx="7125113" cy="924475"/>
          </a:xfrm>
        </p:spPr>
        <p:txBody>
          <a:bodyPr/>
          <a:lstStyle/>
          <a:p>
            <a:pPr algn="ctr"/>
            <a:r>
              <a:rPr lang="en-US" dirty="0" smtClean="0"/>
              <a:t>Methanol Injection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08226"/>
            <a:ext cx="6228940" cy="345897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108" y="1447800"/>
            <a:ext cx="2621692" cy="1828800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52400" y="42672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Pressure profile: Early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4963297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Early: 100 psi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Mid: 55 psi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Late: Atmospheric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00683" y="3390037"/>
            <a:ext cx="2801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Umbilical ID- 1.5”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1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2 ID- 0.6”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3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4 ID- 0.6”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5 ID- 0.65”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6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887" y="-76200"/>
            <a:ext cx="7125113" cy="924475"/>
          </a:xfrm>
        </p:spPr>
        <p:txBody>
          <a:bodyPr/>
          <a:lstStyle/>
          <a:p>
            <a:r>
              <a:rPr lang="en-US" dirty="0" smtClean="0"/>
              <a:t>Corrosion Inhibitor Injection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" r="870" b="2738"/>
          <a:stretch/>
        </p:blipFill>
        <p:spPr bwMode="auto">
          <a:xfrm>
            <a:off x="228600" y="990600"/>
            <a:ext cx="6172200" cy="350520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45720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Pressure profile: Early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0" r="8575" b="7720"/>
          <a:stretch/>
        </p:blipFill>
        <p:spPr bwMode="auto">
          <a:xfrm>
            <a:off x="6553200" y="1584083"/>
            <a:ext cx="2514600" cy="2199488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31805" y="5105400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Early: 45 psi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Mid: Atmospheric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Pump Pressure Late: Atmospheric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52286" y="3879503"/>
            <a:ext cx="2801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Umbilical ID- .65”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1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2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3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4 ID- 0.5”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FL 5 ID- 0.5”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0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287" y="66125"/>
            <a:ext cx="7125113" cy="924475"/>
          </a:xfrm>
        </p:spPr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162800" cy="4648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Use MUX-based control system.</a:t>
            </a:r>
          </a:p>
          <a:p>
            <a:r>
              <a:rPr lang="en-US" dirty="0" smtClean="0"/>
              <a:t>Use adequately sized slug catcher.</a:t>
            </a:r>
          </a:p>
          <a:p>
            <a:r>
              <a:rPr lang="en-US" dirty="0" smtClean="0"/>
              <a:t>Use topside chokes that are controlled remotely to handle slugs.</a:t>
            </a:r>
          </a:p>
          <a:p>
            <a:r>
              <a:rPr lang="en-US" dirty="0" smtClean="0"/>
              <a:t>Utilize active monitoring system such as </a:t>
            </a:r>
            <a:r>
              <a:rPr lang="en-US" dirty="0" err="1" smtClean="0"/>
              <a:t>FlowManger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Utilize wax inhibitors at cool points in system (well 4, down-hole, well 5 flow line, late life).</a:t>
            </a:r>
          </a:p>
          <a:p>
            <a:r>
              <a:rPr lang="en-US" dirty="0" smtClean="0"/>
              <a:t>Continual use of methanol</a:t>
            </a:r>
            <a:r>
              <a:rPr lang="en-US" dirty="0" smtClean="0"/>
              <a:t>.</a:t>
            </a:r>
          </a:p>
          <a:p>
            <a:r>
              <a:rPr lang="en-US" dirty="0"/>
              <a:t>Use of sample tests to precisely examine our fluid properties </a:t>
            </a:r>
            <a:r>
              <a:rPr lang="en-US" dirty="0" smtClean="0"/>
              <a:t>to determine solids and associated formation risks.</a:t>
            </a:r>
            <a:endParaRPr lang="en-US" dirty="0" smtClean="0"/>
          </a:p>
          <a:p>
            <a:r>
              <a:rPr lang="en-US" dirty="0" smtClean="0"/>
              <a:t>Capability of electrical heating on flow lines.</a:t>
            </a:r>
          </a:p>
          <a:p>
            <a:r>
              <a:rPr lang="en-US" dirty="0" smtClean="0"/>
              <a:t>Low dosage inhibitors to combat hydrates.</a:t>
            </a:r>
          </a:p>
          <a:p>
            <a:r>
              <a:rPr lang="en-US" dirty="0" smtClean="0"/>
              <a:t>Implement pigging network for solids remediation and removal of system water. </a:t>
            </a:r>
          </a:p>
          <a:p>
            <a:r>
              <a:rPr lang="en-US" dirty="0" smtClean="0"/>
              <a:t>Consider the use of </a:t>
            </a:r>
            <a:r>
              <a:rPr lang="en-US" dirty="0"/>
              <a:t>subsea </a:t>
            </a:r>
            <a:r>
              <a:rPr lang="en-US" dirty="0" smtClean="0"/>
              <a:t>separators </a:t>
            </a:r>
            <a:r>
              <a:rPr lang="en-US" dirty="0"/>
              <a:t>to </a:t>
            </a:r>
            <a:r>
              <a:rPr lang="en-US" dirty="0" smtClean="0"/>
              <a:t>optimize </a:t>
            </a:r>
            <a:r>
              <a:rPr lang="en-US" dirty="0"/>
              <a:t>production and </a:t>
            </a:r>
            <a:r>
              <a:rPr lang="en-US" dirty="0" smtClean="0"/>
              <a:t>minimize flow </a:t>
            </a:r>
            <a:r>
              <a:rPr lang="en-US" dirty="0"/>
              <a:t>assurance </a:t>
            </a:r>
            <a:r>
              <a:rPr lang="en-US" dirty="0" smtClean="0"/>
              <a:t>problems.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12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ummer">
  <a:themeElements>
    <a:clrScheme name="Summer">
      <a:dk1>
        <a:sysClr val="windowText" lastClr="000000"/>
      </a:dk1>
      <a:lt1>
        <a:sysClr val="window" lastClr="FFFFFF"/>
      </a:lt1>
      <a:dk2>
        <a:srgbClr val="E89117"/>
      </a:dk2>
      <a:lt2>
        <a:srgbClr val="FEDD78"/>
      </a:lt2>
      <a:accent1>
        <a:srgbClr val="A1B633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Summer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ummer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2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30000"/>
                <a:lumMod val="10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782</TotalTime>
  <Words>720</Words>
  <Application>Microsoft Office PowerPoint</Application>
  <PresentationFormat>On-screen Show (4:3)</PresentationFormat>
  <Paragraphs>177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Summer</vt:lpstr>
      <vt:lpstr>PowerPoint Presentation</vt:lpstr>
      <vt:lpstr>Field Layout- Production</vt:lpstr>
      <vt:lpstr>Flow Assurance Strategy</vt:lpstr>
      <vt:lpstr>PowerPoint Presentation</vt:lpstr>
      <vt:lpstr>Temperature and EVR, Wells P1 and P2</vt:lpstr>
      <vt:lpstr>Pressure Profile- Wells P3, P4, and P5  </vt:lpstr>
      <vt:lpstr>Temperature and EVR, Wells 3, 4, 5 Early Life (Worst Case)</vt:lpstr>
      <vt:lpstr>Water Injection Study Results</vt:lpstr>
      <vt:lpstr>Methanol Injection</vt:lpstr>
      <vt:lpstr>Corrosion Inhibitor Injection</vt:lpstr>
      <vt:lpstr>Recommendations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Layout- Production</dc:title>
  <dc:creator>Owner</dc:creator>
  <cp:lastModifiedBy>Authorised User</cp:lastModifiedBy>
  <cp:revision>28</cp:revision>
  <dcterms:created xsi:type="dcterms:W3CDTF">2014-04-21T22:38:04Z</dcterms:created>
  <dcterms:modified xsi:type="dcterms:W3CDTF">2014-04-24T11:20:14Z</dcterms:modified>
</cp:coreProperties>
</file>